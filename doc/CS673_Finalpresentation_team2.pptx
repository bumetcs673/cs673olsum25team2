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embeddedFontLst>
    <p:embeddedFont>
      <p:font typeface="Montserrat ExtraBold"/>
      <p:bold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ExtraBold-bold.fntdata"/><Relationship Id="rId50" Type="http://schemas.openxmlformats.org/officeDocument/2006/relationships/slide" Target="slides/slide45.xml"/><Relationship Id="rId52" Type="http://schemas.openxmlformats.org/officeDocument/2006/relationships/font" Target="fonts/MontserratExtra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6a2e1487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6a2e1487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6a2e1487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6a2e1487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6bfdca7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6bfdca7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5cd2c147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5cd2c147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5cd2c147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5cd2c147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5cd2c147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5cd2c147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5cd2c147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5cd2c147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87982a45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87982a45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cf7b7d09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cf7b7d09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87982a453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87982a453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87982a453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87982a453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87982a453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87982a453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87982a453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687982a453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87982a453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87982a453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cf7b7d09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3cf7b7d09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cf7b7d09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3cf7b7d09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87982a45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687982a45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cf7b7d09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3cf7b7d09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3cf7b7d09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3cf7b7d09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3cf7b7d09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3cf7b7d09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cf7b7d09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3cf7b7d09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3cf7b7d09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3cf7b7d09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3cf7b7d09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3cf7b7d09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87982a45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687982a45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87982a453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687982a453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3cff548e66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3cff548e66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3cff548e66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3cff548e66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cff548e66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3cff548e66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87982a45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687982a45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8632d7f1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68632d7f1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68632d7f1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68632d7f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8632d7f1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68632d7f1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68632d7f1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68632d7f1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3cff548e6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3cff548e6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3cff548e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3cff548e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3cff548e6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3cff548e6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cff548e6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3cff548e6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3cff548e6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3cff548e6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3cff548e6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3cff548e6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68578dca9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68578dca9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68578dca9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68578dca9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68578dca9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68578dca9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68578dca9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68578dca9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68578dca9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68578dca9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687982a453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687982a453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hyperlink" Target="https://www.behance.net/gallery/180903533/Bedtime-Stories-For-Kids" TargetMode="External"/><Relationship Id="rId5" Type="http://schemas.openxmlformats.org/officeDocument/2006/relationships/hyperlink" Target="https://www.behance.net/gallery/203131909/Lullaby-Magical-bedtime-stories-application-for-kids#" TargetMode="External"/><Relationship Id="rId6" Type="http://schemas.openxmlformats.org/officeDocument/2006/relationships/hyperlink" Target="https://www.behance.net/gallery/194532313/Bedtime-story-app-Znichka#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hyperlink" Target="http://remove.bg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41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19.png"/><Relationship Id="rId6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16.png"/><Relationship Id="rId6" Type="http://schemas.openxmlformats.org/officeDocument/2006/relationships/image" Target="../media/image39.png"/><Relationship Id="rId7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4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image" Target="../media/image4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Relationship Id="rId7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3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923200" y="445025"/>
            <a:ext cx="590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My Magical Bedtime</a:t>
            </a:r>
            <a:endParaRPr sz="402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277000" y="2004975"/>
            <a:ext cx="35553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Iteration 3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</a:rPr>
              <a:t>Team 2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021675" y="1163350"/>
            <a:ext cx="4810500" cy="6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A bedtime story generator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Recap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My Magical Bedtime is an app catered towards young children and their parents that allows customized story creation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app features multiple options to customize the main character, theme, and setting of the story, as well as audio narration and a read-along text highlighting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Designed using the MERN stack (MongoDB, Express.js, React, Node.js)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Utilizes GPT-based API to generate stories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and Responsibilities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Roles were self-selected based on interest/skill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Hongjie Zhang (Zack) - Design &amp; Implementation and Security Lead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Tetiana Korchynska - Requirement and Design &amp; Implementation Lead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Thomas Iliev - QA Lead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Xuelin Min (Barry) - Security Lead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Grant Hovey - Configuration Lead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Iqra Chaudhary - Team Lead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supported one another throughout the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Teammates took on some responsibilities to help reduce the load on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Created space for each other to make mistakes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Recognized that everyone came in with different skill levels and learning curves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Management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communication between teammates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Teammates hesitant to speak up when prompted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Confusion in early iterations about who was responsible for which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difficulties with deployment platforms, testing tools cause setup delays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Docker issues in local environments affected deployment readiness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Risks were managed by: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Communicating the technical issues with teammates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Utilized GitHub Kanban Board</a:t>
            </a:r>
            <a:r>
              <a:rPr lang="en"/>
              <a:t> &amp; Discord</a:t>
            </a:r>
            <a:r>
              <a:rPr lang="en"/>
              <a:t> to eliminate any confusion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Encouraging</a:t>
            </a:r>
            <a:r>
              <a:rPr lang="en"/>
              <a:t> teammates to be more direct and proactive in speaking up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Management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Team walkthroughs helped surface visual and functional bugs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Logged and resolved several bugs throughout development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Consistent use of pull requests supported smooth integration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Focused on addressing technical paybacks to maintain clean, stable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Testing tools: Jest, Vite, React Testing Library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Maintained automated tests to ensure continuous quality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Achieved</a:t>
            </a:r>
            <a:r>
              <a:rPr lang="en"/>
              <a:t> high unit test coverage across all pages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Iteration Evolution &amp; Process Improvement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Early iterations had teammates more involved in the brainstorming process; new members adapted quickly due to supportive environment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Iteration 1 involved some uncertainty around individual expectations but eventually got the hang of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Iteration 2 responsibilities were better understood and teammates were contributing more actively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of Kanban board improved task visibility and self-assignment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consistent completion of team deliverables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Team made better use of pull requests, version control, CI/CD practices over time to streamline integration and testing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 &amp; Lessons Learned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Completed a basic, working version of the app with essential features: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AI-powered story generation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Customizable </a:t>
            </a:r>
            <a:r>
              <a:rPr lang="en"/>
              <a:t>characters</a:t>
            </a:r>
            <a:r>
              <a:rPr lang="en"/>
              <a:t>, settings, themes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Text highlighting and audio narration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Story saving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Cohesive, visually </a:t>
            </a:r>
            <a:r>
              <a:rPr lang="en"/>
              <a:t>appealing</a:t>
            </a:r>
            <a:r>
              <a:rPr lang="en"/>
              <a:t> design appropriate for the target audience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Successfully delivered a unified user experience from start to finish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Learned new tools (Docker, testing frameworks)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Learned Agile methodology and collaborating in a team setting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lessons: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Organized workflows lead to stronger team productivity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Communicate early and consistently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Ensure that each team member is comfortable with their role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923200" y="445025"/>
            <a:ext cx="590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Requirement Analysis</a:t>
            </a:r>
            <a:endParaRPr sz="402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Analysis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582075" y="1174750"/>
            <a:ext cx="79692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O</a:t>
            </a:r>
            <a:r>
              <a:rPr lang="en" sz="2000">
                <a:solidFill>
                  <a:srgbClr val="434343"/>
                </a:solidFill>
              </a:rPr>
              <a:t>verview of Functional Requirements 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582075" y="1715950"/>
            <a:ext cx="3262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Essential Features: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User Registration &amp; Login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Generation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Read-Along Mode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Saving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Parent Controls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4183225" y="1715950"/>
            <a:ext cx="417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Desirable</a:t>
            </a:r>
            <a:r>
              <a:rPr b="1" lang="en" sz="1800">
                <a:solidFill>
                  <a:srgbClr val="1C4587"/>
                </a:solidFill>
              </a:rPr>
              <a:t> Features: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Character Customization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Theme </a:t>
            </a:r>
            <a:r>
              <a:rPr lang="en" sz="1800">
                <a:solidFill>
                  <a:schemeClr val="dk2"/>
                </a:solidFill>
              </a:rPr>
              <a:t>Customization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Audio Narration Download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Sharing (within app)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717525" y="3573600"/>
            <a:ext cx="363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Optional</a:t>
            </a:r>
            <a:r>
              <a:rPr b="1" lang="en" sz="1800">
                <a:solidFill>
                  <a:srgbClr val="1C4587"/>
                </a:solidFill>
              </a:rPr>
              <a:t> Features:</a:t>
            </a:r>
            <a:endParaRPr b="1" sz="1800">
              <a:solidFill>
                <a:srgbClr val="1C4587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Accessibility Narration Mode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Visual Story Enhancements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3263250" y="3850650"/>
            <a:ext cx="295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Offline Mode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Reward System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5487950" y="3666000"/>
            <a:ext cx="264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Usage Tracking Dashboard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Voice Assistant for Story Selection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Analysis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582075" y="1174750"/>
            <a:ext cx="79692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Overview of Functional Requirements 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582075" y="1715950"/>
            <a:ext cx="3262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Essential Features: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User Registration &amp; Login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Generation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Read-Along Mode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Saving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Parent Controls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4183225" y="1715950"/>
            <a:ext cx="417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Desirable Features: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Character Customization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Theme Customization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Audio Narration Download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Sharing (within app)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717525" y="3573600"/>
            <a:ext cx="3639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Optional Features:</a:t>
            </a:r>
            <a:endParaRPr b="1" sz="1800">
              <a:solidFill>
                <a:srgbClr val="1C4587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Accessibility Narration Mode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Visual Story Enhancements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3263250" y="3850650"/>
            <a:ext cx="295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Offline Mode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Reward System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5379725" y="3619800"/>
            <a:ext cx="264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Usage Tracking Dashboard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Voice Assistant for Story Selection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20" name="Google Shape;120;p22" title="do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521" y="2108350"/>
            <a:ext cx="241275" cy="2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 title="not do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0715" y="2891241"/>
            <a:ext cx="241275" cy="2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 title="do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521" y="2386175"/>
            <a:ext cx="241275" cy="2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 title="do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521" y="2664000"/>
            <a:ext cx="241275" cy="2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 title="do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521" y="2941825"/>
            <a:ext cx="241275" cy="2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do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521" y="3200600"/>
            <a:ext cx="241275" cy="2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2" title="do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0721" y="2108350"/>
            <a:ext cx="241275" cy="2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2" title="do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0721" y="2386175"/>
            <a:ext cx="241275" cy="2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 title="do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0721" y="2661788"/>
            <a:ext cx="241275" cy="2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 title="not do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122" y="3922398"/>
            <a:ext cx="178475" cy="1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 title="not do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9122" y="4117098"/>
            <a:ext cx="178475" cy="1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not do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9122" y="3922398"/>
            <a:ext cx="178475" cy="1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 title="not do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9122" y="4117098"/>
            <a:ext cx="178475" cy="1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 title="not do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9872" y="3888373"/>
            <a:ext cx="178475" cy="1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 title="not do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9872" y="4117098"/>
            <a:ext cx="178475" cy="1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/>
        </p:nvSpPr>
        <p:spPr>
          <a:xfrm>
            <a:off x="6765200" y="647525"/>
            <a:ext cx="1685400" cy="107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Total: 15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8761D"/>
                </a:solidFill>
              </a:rPr>
              <a:t>Done: 8</a:t>
            </a:r>
            <a:br>
              <a:rPr lang="en" sz="1800">
                <a:solidFill>
                  <a:schemeClr val="dk2"/>
                </a:solidFill>
              </a:rPr>
            </a:br>
            <a:r>
              <a:rPr b="1" lang="en" sz="2000">
                <a:solidFill>
                  <a:srgbClr val="CC0000"/>
                </a:solidFill>
              </a:rPr>
              <a:t>Not done: 7</a:t>
            </a:r>
            <a:endParaRPr b="1" sz="20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Analysis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582075" y="1174750"/>
            <a:ext cx="79692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Story Points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582075" y="1715950"/>
            <a:ext cx="3262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Essential Features: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User Registration &amp; Login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Generation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Read-Along Mode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Saving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Parent Controls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4183225" y="1715950"/>
            <a:ext cx="417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Desirable Features: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Character Customization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Theme Customization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Audio Narration Download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Sharing (within app)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717525" y="3573600"/>
            <a:ext cx="3639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Optional Features:</a:t>
            </a:r>
            <a:endParaRPr b="1" sz="1800">
              <a:solidFill>
                <a:srgbClr val="1C4587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Accessibility Narration Mode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Visual Story Enhancements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3263250" y="3850650"/>
            <a:ext cx="295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Offline Mode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Reward System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5487950" y="3666000"/>
            <a:ext cx="264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Usage Tracking Dashboard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Voice Assistant for Story Selection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47" name="Google Shape;147;p23" title="Screenshot 2025-06-16 at 3.17.0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425" y="2145075"/>
            <a:ext cx="413125" cy="1401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 title="Screenshot 2025-06-16 at 3.17.0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3225" y="2066650"/>
            <a:ext cx="41312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 title="Screenshot 2025-06-16 at 3.17.0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850" y="3975725"/>
            <a:ext cx="413125" cy="37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 title="Screenshot 2025-06-16 at 3.17.0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5075" y="3941438"/>
            <a:ext cx="413125" cy="37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 title="Screenshot 2025-06-16 at 3.17.0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8725" y="3984188"/>
            <a:ext cx="413125" cy="37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659438" y="1955475"/>
            <a:ext cx="41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1155CC"/>
                </a:solidFill>
              </a:rPr>
              <a:t>7</a:t>
            </a:r>
            <a:endParaRPr b="1" sz="1800" u="sng">
              <a:solidFill>
                <a:srgbClr val="1155CC"/>
              </a:solidFill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592250" y="2222539"/>
            <a:ext cx="5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1155CC"/>
                </a:solidFill>
              </a:rPr>
              <a:t>10</a:t>
            </a:r>
            <a:endParaRPr b="1" sz="1800" u="sng">
              <a:solidFill>
                <a:srgbClr val="1155CC"/>
              </a:solidFill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592254" y="2510338"/>
            <a:ext cx="5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1155CC"/>
                </a:solidFill>
              </a:rPr>
              <a:t>8</a:t>
            </a:r>
            <a:endParaRPr b="1" sz="1800" u="sng">
              <a:solidFill>
                <a:srgbClr val="1155CC"/>
              </a:solidFill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592254" y="2764525"/>
            <a:ext cx="5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1155CC"/>
                </a:solidFill>
              </a:rPr>
              <a:t>5</a:t>
            </a:r>
            <a:endParaRPr b="1" sz="1800" u="sng">
              <a:solidFill>
                <a:srgbClr val="1155CC"/>
              </a:solidFill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592254" y="3041963"/>
            <a:ext cx="5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1155CC"/>
                </a:solidFill>
              </a:rPr>
              <a:t>1</a:t>
            </a:r>
            <a:endParaRPr b="1" sz="1800" u="sng">
              <a:solidFill>
                <a:srgbClr val="1155CC"/>
              </a:solidFill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4214629" y="1955463"/>
            <a:ext cx="5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1155CC"/>
                </a:solidFill>
              </a:rPr>
              <a:t>3</a:t>
            </a:r>
            <a:endParaRPr b="1" sz="1800" u="sng">
              <a:solidFill>
                <a:srgbClr val="1155CC"/>
              </a:solidFill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4214629" y="2552438"/>
            <a:ext cx="5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1155CC"/>
                </a:solidFill>
              </a:rPr>
              <a:t>3</a:t>
            </a:r>
            <a:endParaRPr b="1" sz="1800" u="sng">
              <a:solidFill>
                <a:srgbClr val="1155CC"/>
              </a:solidFill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4214629" y="2824138"/>
            <a:ext cx="5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1155CC"/>
                </a:solidFill>
              </a:rPr>
              <a:t>3</a:t>
            </a:r>
            <a:endParaRPr b="1" sz="1800" u="sng">
              <a:solidFill>
                <a:srgbClr val="1155CC"/>
              </a:solidFill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4214629" y="2270038"/>
            <a:ext cx="5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1155CC"/>
                </a:solidFill>
              </a:rPr>
              <a:t>3</a:t>
            </a:r>
            <a:endParaRPr b="1" sz="1800" u="sng">
              <a:solidFill>
                <a:srgbClr val="1155CC"/>
              </a:solidFill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5538725" y="3850661"/>
            <a:ext cx="54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1155CC"/>
                </a:solidFill>
              </a:rPr>
              <a:t>3</a:t>
            </a:r>
            <a:endParaRPr b="1" sz="1200" u="sng">
              <a:solidFill>
                <a:srgbClr val="1155CC"/>
              </a:solidFill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745663" y="4035599"/>
            <a:ext cx="54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1155CC"/>
                </a:solidFill>
              </a:rPr>
              <a:t>2</a:t>
            </a:r>
            <a:endParaRPr b="1" sz="1200" u="sng">
              <a:solidFill>
                <a:srgbClr val="1155CC"/>
              </a:solidFill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3297888" y="4035611"/>
            <a:ext cx="54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1155CC"/>
                </a:solidFill>
              </a:rPr>
              <a:t>3</a:t>
            </a:r>
            <a:endParaRPr b="1" sz="1200" u="sng">
              <a:solidFill>
                <a:srgbClr val="1155CC"/>
              </a:solidFill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3297888" y="3850661"/>
            <a:ext cx="54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1155CC"/>
                </a:solidFill>
              </a:rPr>
              <a:t>3</a:t>
            </a:r>
            <a:endParaRPr b="1" sz="1200" u="sng">
              <a:solidFill>
                <a:srgbClr val="1155CC"/>
              </a:solidFill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5538725" y="4088786"/>
            <a:ext cx="54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1155CC"/>
                </a:solidFill>
              </a:rPr>
              <a:t>2</a:t>
            </a:r>
            <a:endParaRPr b="1" sz="1200" u="sng">
              <a:solidFill>
                <a:srgbClr val="1155CC"/>
              </a:solidFill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745663" y="3861399"/>
            <a:ext cx="54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1155CC"/>
                </a:solidFill>
              </a:rPr>
              <a:t>2</a:t>
            </a:r>
            <a:endParaRPr b="1" sz="1200" u="sng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Analysis</a:t>
            </a:r>
            <a:endParaRPr/>
          </a:p>
        </p:txBody>
      </p:sp>
      <p:sp>
        <p:nvSpPr>
          <p:cNvPr id="172" name="Google Shape;172;p24"/>
          <p:cNvSpPr txBox="1"/>
          <p:nvPr>
            <p:ph idx="1" type="body"/>
          </p:nvPr>
        </p:nvSpPr>
        <p:spPr>
          <a:xfrm>
            <a:off x="582075" y="1174750"/>
            <a:ext cx="79692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User Stories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587400" y="1715950"/>
            <a:ext cx="79692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We wrote user stories for each feature to capture user needs.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582075" y="2257150"/>
            <a:ext cx="3667500" cy="24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1C4587"/>
                </a:solidFill>
              </a:rPr>
              <a:t>Functional requirements: </a:t>
            </a: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15 user stories (58 SP total)</a:t>
            </a:r>
            <a:r>
              <a:rPr lang="en">
                <a:solidFill>
                  <a:schemeClr val="dk1"/>
                </a:solidFill>
              </a:rPr>
              <a:t>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Essential Total: 31 SP  Desirable Total: 12 SP  Optional Total: 15 SP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8 done - total 40 SP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4506050" y="2257150"/>
            <a:ext cx="3919800" cy="21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1C4587"/>
                </a:solidFill>
              </a:rPr>
              <a:t>Non-f</a:t>
            </a:r>
            <a:r>
              <a:rPr b="1" lang="en">
                <a:solidFill>
                  <a:srgbClr val="1C4587"/>
                </a:solidFill>
              </a:rPr>
              <a:t>unctional requirements: </a:t>
            </a: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5 user stories</a:t>
            </a:r>
            <a:r>
              <a:rPr lang="en">
                <a:solidFill>
                  <a:schemeClr val="dk1"/>
                </a:solidFill>
              </a:rPr>
              <a:t>: total 5 SP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5 done - total 5 SP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Analysis</a:t>
            </a:r>
            <a:endParaRPr/>
          </a:p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582075" y="1174750"/>
            <a:ext cx="3212400" cy="7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en" sz="2000">
                <a:solidFill>
                  <a:srgbClr val="434343"/>
                </a:solidFill>
              </a:rPr>
              <a:t>Use Case Diagram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625750" y="1802100"/>
            <a:ext cx="3262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Essential Features:</a:t>
            </a:r>
            <a:endParaRPr b="1" sz="1800">
              <a:solidFill>
                <a:srgbClr val="1C4587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User Registration &amp; Login 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Story Generation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Story Read-Along Mode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Story Saving  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Parent Controls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83" name="Google Shape;183;p25" title="Frame 3.png"/>
          <p:cNvPicPr preferRelativeResize="0"/>
          <p:nvPr/>
        </p:nvPicPr>
        <p:blipFill rotWithShape="1">
          <a:blip r:embed="rId4">
            <a:alphaModFix/>
          </a:blip>
          <a:srcRect b="0" l="9" r="9" t="0"/>
          <a:stretch/>
        </p:blipFill>
        <p:spPr>
          <a:xfrm>
            <a:off x="3888250" y="902450"/>
            <a:ext cx="4579927" cy="3536401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3060000" dist="95250">
              <a:srgbClr val="000000">
                <a:alpha val="4000"/>
              </a:srgbClr>
            </a:outerShdw>
          </a:effectLst>
        </p:spPr>
      </p:pic>
      <p:sp>
        <p:nvSpPr>
          <p:cNvPr id="184" name="Google Shape;184;p25"/>
          <p:cNvSpPr txBox="1"/>
          <p:nvPr/>
        </p:nvSpPr>
        <p:spPr>
          <a:xfrm>
            <a:off x="625750" y="3330650"/>
            <a:ext cx="3262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Desirable Features:</a:t>
            </a:r>
            <a:endParaRPr b="1" sz="1800">
              <a:solidFill>
                <a:srgbClr val="1C4587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Story Character Customization 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Theme Customization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Audio Narration Download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Analysis</a:t>
            </a:r>
            <a:endParaRPr/>
          </a:p>
        </p:txBody>
      </p:sp>
      <p:sp>
        <p:nvSpPr>
          <p:cNvPr id="190" name="Google Shape;190;p26"/>
          <p:cNvSpPr txBox="1"/>
          <p:nvPr>
            <p:ph idx="1" type="body"/>
          </p:nvPr>
        </p:nvSpPr>
        <p:spPr>
          <a:xfrm>
            <a:off x="582200" y="1558700"/>
            <a:ext cx="51948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rPr lang="en" sz="1600">
                <a:solidFill>
                  <a:schemeClr val="dk1"/>
                </a:solidFill>
              </a:rPr>
              <a:t>As a child with help from a parent, I want to generate a customized bedtime story by selecting characters, themes, and settings, so that I can enjoy a personalized reading experience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91" name="Google Shape;191;p26"/>
          <p:cNvSpPr txBox="1"/>
          <p:nvPr>
            <p:ph idx="1" type="body"/>
          </p:nvPr>
        </p:nvSpPr>
        <p:spPr>
          <a:xfrm>
            <a:off x="582200" y="1083788"/>
            <a:ext cx="7969200" cy="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User story example</a:t>
            </a:r>
            <a:endParaRPr sz="2000">
              <a:solidFill>
                <a:srgbClr val="434343"/>
              </a:solidFill>
            </a:endParaRPr>
          </a:p>
        </p:txBody>
      </p:sp>
      <p:pic>
        <p:nvPicPr>
          <p:cNvPr id="192" name="Google Shape;192;p26" title="Screenshot 2025-06-16 at 3.35.2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1000" y="571500"/>
            <a:ext cx="3156803" cy="176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6" title="Screenshot 2025-06-16 at 3.36.1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0583" y="2834600"/>
            <a:ext cx="3137638" cy="176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6" title="Screenshot 2025-06-16 at 3.37.36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4450" y="2831525"/>
            <a:ext cx="3156803" cy="1772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Analysis</a:t>
            </a:r>
            <a:endParaRPr/>
          </a:p>
        </p:txBody>
      </p:sp>
      <p:sp>
        <p:nvSpPr>
          <p:cNvPr id="200" name="Google Shape;200;p27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We managed requirements via: </a:t>
            </a:r>
            <a:endParaRPr sz="2000">
              <a:solidFill>
                <a:srgbClr val="434343"/>
              </a:solidFill>
            </a:endParaRPr>
          </a:p>
          <a:p>
            <a:pPr indent="-342900" lvl="0" marL="4572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GitHub Kanban board for task tracking and assigning  </a:t>
            </a:r>
            <a:endParaRPr>
              <a:solidFill>
                <a:schemeClr val="dk1"/>
              </a:solidFill>
            </a:endParaRPr>
          </a:p>
          <a:p>
            <a:pPr indent="-3429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Weekly planning sessions to manage requirement changes </a:t>
            </a:r>
            <a:endParaRPr>
              <a:solidFill>
                <a:schemeClr val="dk1"/>
              </a:solidFill>
            </a:endParaRPr>
          </a:p>
          <a:p>
            <a:pPr indent="-3429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Regular communication to avoid duplicate work or misalignments</a:t>
            </a:r>
            <a:endParaRPr>
              <a:solidFill>
                <a:schemeClr val="dk1"/>
              </a:solidFill>
            </a:endParaRPr>
          </a:p>
          <a:p>
            <a:pPr indent="-3429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Git branching strategy to organize code contributions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Analysis</a:t>
            </a:r>
            <a:endParaRPr/>
          </a:p>
        </p:txBody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582075" y="1174750"/>
            <a:ext cx="27330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N</a:t>
            </a:r>
            <a:r>
              <a:rPr lang="en" sz="2000">
                <a:solidFill>
                  <a:srgbClr val="434343"/>
                </a:solidFill>
              </a:rPr>
              <a:t>onfunctional </a:t>
            </a:r>
            <a:br>
              <a:rPr lang="en" sz="2000">
                <a:solidFill>
                  <a:srgbClr val="434343"/>
                </a:solidFill>
              </a:rPr>
            </a:br>
            <a:r>
              <a:rPr lang="en" sz="2000">
                <a:solidFill>
                  <a:srgbClr val="434343"/>
                </a:solidFill>
              </a:rPr>
              <a:t>requirements </a:t>
            </a:r>
            <a:endParaRPr sz="2000">
              <a:solidFill>
                <a:srgbClr val="434343"/>
              </a:solidFill>
            </a:endParaRPr>
          </a:p>
        </p:txBody>
      </p:sp>
      <p:pic>
        <p:nvPicPr>
          <p:cNvPr id="207" name="Google Shape;207;p28" title="Screenshot 2025-06-16 at 5.19.5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076" y="1017612"/>
            <a:ext cx="5087776" cy="35171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08" name="Google Shape;208;p28" title="do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6271" y="1607025"/>
            <a:ext cx="241275" cy="2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8" title="do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6271" y="2273075"/>
            <a:ext cx="241275" cy="2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8" title="do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6271" y="2881800"/>
            <a:ext cx="241275" cy="2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8" title="do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6271" y="3404600"/>
            <a:ext cx="241275" cy="2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8" title="do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6271" y="4034825"/>
            <a:ext cx="241275" cy="22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2923200" y="445025"/>
            <a:ext cx="590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UI Design</a:t>
            </a:r>
            <a:endParaRPr sz="402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Design</a:t>
            </a:r>
            <a:endParaRPr/>
          </a:p>
        </p:txBody>
      </p:sp>
      <p:sp>
        <p:nvSpPr>
          <p:cNvPr id="223" name="Google Shape;223;p30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Focus on </a:t>
            </a:r>
            <a:r>
              <a:rPr b="1" lang="en" sz="2000">
                <a:solidFill>
                  <a:srgbClr val="1C4587"/>
                </a:solidFill>
              </a:rPr>
              <a:t>child-friendliness, simplicity, and bedtime atmosphere</a:t>
            </a:r>
            <a:r>
              <a:rPr lang="en" sz="2000">
                <a:solidFill>
                  <a:srgbClr val="434343"/>
                </a:solidFill>
              </a:rPr>
              <a:t>.</a:t>
            </a:r>
            <a:endParaRPr sz="2000">
              <a:solidFill>
                <a:srgbClr val="434343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4587"/>
                </a:solidFill>
              </a:rPr>
              <a:t>Goals:</a:t>
            </a:r>
            <a:endParaRPr b="1" sz="2000">
              <a:solidFill>
                <a:srgbClr val="1C4587"/>
              </a:solidFill>
            </a:endParaRPr>
          </a:p>
          <a:p>
            <a:pPr indent="101600" lvl="0" marL="457200" marR="3810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Simple navigation for both kids and parents </a:t>
            </a:r>
            <a:endParaRPr sz="2000">
              <a:solidFill>
                <a:srgbClr val="434343"/>
              </a:solidFill>
            </a:endParaRPr>
          </a:p>
          <a:p>
            <a:pPr indent="1016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Calming bedtime look &amp; feel </a:t>
            </a:r>
            <a:endParaRPr sz="2000">
              <a:solidFill>
                <a:srgbClr val="434343"/>
              </a:solidFill>
            </a:endParaRPr>
          </a:p>
          <a:p>
            <a:pPr indent="1016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Large tap areas and readable fonts</a:t>
            </a:r>
            <a:endParaRPr sz="2000">
              <a:solidFill>
                <a:srgbClr val="434343"/>
              </a:solidFill>
            </a:endParaRPr>
          </a:p>
          <a:p>
            <a:pPr indent="1016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Fully responsive on desktop, tablet, and mobile   </a:t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Design</a:t>
            </a:r>
            <a:endParaRPr/>
          </a:p>
        </p:txBody>
      </p:sp>
      <p:sp>
        <p:nvSpPr>
          <p:cNvPr id="229" name="Google Shape;229;p31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We analyzed several existing designs: </a:t>
            </a:r>
            <a:endParaRPr sz="2000">
              <a:solidFill>
                <a:srgbClr val="434343"/>
              </a:solidFill>
            </a:endParaRPr>
          </a:p>
          <a:p>
            <a:pPr indent="-355600" lvl="0" marL="457200" marR="3810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4"/>
              </a:rPr>
              <a:t>Bedtime Stories for Kids</a:t>
            </a:r>
            <a:r>
              <a:rPr lang="en" sz="2000">
                <a:solidFill>
                  <a:srgbClr val="434343"/>
                </a:solidFill>
              </a:rPr>
              <a:t> (our main inspiration)</a:t>
            </a:r>
            <a:endParaRPr sz="2000">
              <a:solidFill>
                <a:srgbClr val="434343"/>
              </a:solidFill>
            </a:endParaRPr>
          </a:p>
          <a:p>
            <a:pPr indent="-3556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5"/>
              </a:rPr>
              <a:t>Lullaby</a:t>
            </a:r>
            <a:r>
              <a:rPr lang="en" sz="2000">
                <a:solidFill>
                  <a:srgbClr val="434343"/>
                </a:solidFill>
              </a:rPr>
              <a:t> – Magical Bedtime Stories   </a:t>
            </a:r>
            <a:endParaRPr sz="2000">
              <a:solidFill>
                <a:srgbClr val="434343"/>
              </a:solidFill>
            </a:endParaRPr>
          </a:p>
          <a:p>
            <a:pPr indent="-3556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6"/>
              </a:rPr>
              <a:t>Znichka</a:t>
            </a:r>
            <a:r>
              <a:rPr lang="en" sz="2000">
                <a:solidFill>
                  <a:srgbClr val="434343"/>
                </a:solidFill>
              </a:rPr>
              <a:t> Bedtime Story App </a:t>
            </a:r>
            <a:endParaRPr sz="2000">
              <a:solidFill>
                <a:srgbClr val="434343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These provided insights into color schemes, layouts, and UX patterns suitable for young children</a:t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Design</a:t>
            </a:r>
            <a:endParaRPr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Our main color and typography choices</a:t>
            </a:r>
            <a:endParaRPr sz="2000">
              <a:solidFill>
                <a:srgbClr val="434343"/>
              </a:solidFill>
            </a:endParaRPr>
          </a:p>
        </p:txBody>
      </p:sp>
      <p:pic>
        <p:nvPicPr>
          <p:cNvPr id="236" name="Google Shape;236;p32" title="Screenshot 2025-06-15 at 3.46.5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075" y="1755994"/>
            <a:ext cx="4052876" cy="2691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2" title="Screenshot 2025-06-15 at 3.51.0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0647" y="1756000"/>
            <a:ext cx="3720627" cy="269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Design</a:t>
            </a:r>
            <a:endParaRPr/>
          </a:p>
        </p:txBody>
      </p:sp>
      <p:sp>
        <p:nvSpPr>
          <p:cNvPr id="243" name="Google Shape;243;p33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34343"/>
                </a:solidFill>
              </a:rPr>
              <a:t>Tools used</a:t>
            </a:r>
            <a:endParaRPr sz="2200">
              <a:solidFill>
                <a:srgbClr val="434343"/>
              </a:solidFill>
            </a:endParaRPr>
          </a:p>
          <a:p>
            <a:pPr indent="-355600" lvl="0" marL="457200" marR="3810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b="1" lang="en" sz="2000">
                <a:solidFill>
                  <a:srgbClr val="1C4587"/>
                </a:solidFill>
              </a:rPr>
              <a:t>Figma</a:t>
            </a:r>
            <a:r>
              <a:rPr lang="en" sz="2000">
                <a:solidFill>
                  <a:srgbClr val="434343"/>
                </a:solidFill>
              </a:rPr>
              <a:t> - full UI prototyping and mockup creation </a:t>
            </a:r>
            <a:endParaRPr sz="2000">
              <a:solidFill>
                <a:srgbClr val="434343"/>
              </a:solidFill>
            </a:endParaRPr>
          </a:p>
          <a:p>
            <a:pPr indent="-3556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b="1" lang="en" sz="2000" u="sng">
                <a:solidFill>
                  <a:srgbClr val="1C458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Remove.bg</a:t>
            </a:r>
            <a:r>
              <a:rPr b="1" lang="en" sz="2000">
                <a:solidFill>
                  <a:srgbClr val="434343"/>
                </a:solidFill>
              </a:rPr>
              <a:t> </a:t>
            </a:r>
            <a:r>
              <a:rPr lang="en" sz="2000">
                <a:solidFill>
                  <a:srgbClr val="434343"/>
                </a:solidFill>
              </a:rPr>
              <a:t>- free background remove tool; can be installed as a plugin in Figma;</a:t>
            </a:r>
            <a:endParaRPr sz="2000">
              <a:solidFill>
                <a:srgbClr val="434343"/>
              </a:solidFill>
            </a:endParaRPr>
          </a:p>
          <a:p>
            <a:pPr indent="-3556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b="1" lang="en" sz="2000">
                <a:solidFill>
                  <a:srgbClr val="1C4587"/>
                </a:solidFill>
              </a:rPr>
              <a:t>React &amp; Vite</a:t>
            </a:r>
            <a:r>
              <a:rPr lang="en" sz="2000">
                <a:solidFill>
                  <a:srgbClr val="1C4587"/>
                </a:solidFill>
              </a:rPr>
              <a:t> </a:t>
            </a:r>
            <a:r>
              <a:rPr lang="en" sz="2000">
                <a:solidFill>
                  <a:srgbClr val="434343"/>
                </a:solidFill>
              </a:rPr>
              <a:t>- responsive frontend development </a:t>
            </a:r>
            <a:endParaRPr sz="2000">
              <a:solidFill>
                <a:srgbClr val="434343"/>
              </a:solidFill>
            </a:endParaRPr>
          </a:p>
          <a:p>
            <a:pPr indent="-3556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b="1" lang="en" sz="2000">
                <a:solidFill>
                  <a:srgbClr val="1C4587"/>
                </a:solidFill>
              </a:rPr>
              <a:t>ChatGPT &amp; MidJourney</a:t>
            </a:r>
            <a:r>
              <a:rPr lang="en" sz="2000">
                <a:solidFill>
                  <a:srgbClr val="434343"/>
                </a:solidFill>
              </a:rPr>
              <a:t> - image generation (Chat GPT for characters selections, MidJourney for pages backgrounds).</a:t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Design</a:t>
            </a:r>
            <a:endParaRPr/>
          </a:p>
        </p:txBody>
      </p:sp>
      <p:sp>
        <p:nvSpPr>
          <p:cNvPr id="249" name="Google Shape;249;p34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34343"/>
                </a:solidFill>
              </a:rPr>
              <a:t>Accessibility and Usability </a:t>
            </a:r>
            <a:endParaRPr sz="2200">
              <a:solidFill>
                <a:srgbClr val="434343"/>
              </a:solidFill>
            </a:endParaRPr>
          </a:p>
          <a:p>
            <a:pPr indent="-355600" lvl="0" marL="457200" marR="381000" rtl="0" algn="l"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Large fonts   </a:t>
            </a:r>
            <a:endParaRPr sz="2000">
              <a:solidFill>
                <a:srgbClr val="434343"/>
              </a:solidFill>
            </a:endParaRPr>
          </a:p>
          <a:p>
            <a:pPr indent="-3556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No clutter   </a:t>
            </a:r>
            <a:endParaRPr sz="2000">
              <a:solidFill>
                <a:srgbClr val="434343"/>
              </a:solidFill>
            </a:endParaRPr>
          </a:p>
          <a:p>
            <a:pPr indent="-3556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Clear labels and error states   </a:t>
            </a:r>
            <a:endParaRPr sz="2000">
              <a:solidFill>
                <a:srgbClr val="434343"/>
              </a:solidFill>
            </a:endParaRPr>
          </a:p>
          <a:p>
            <a:pPr indent="-3556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Big buttons for easy tapping   </a:t>
            </a:r>
            <a:endParaRPr sz="2000">
              <a:solidFill>
                <a:srgbClr val="434343"/>
              </a:solidFill>
            </a:endParaRPr>
          </a:p>
          <a:p>
            <a:pPr indent="-3556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Char char="●"/>
            </a:pPr>
            <a:r>
              <a:rPr lang="en" sz="2000">
                <a:solidFill>
                  <a:srgbClr val="434343"/>
                </a:solidFill>
              </a:rPr>
              <a:t>Visual consistency across all pages </a:t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Design</a:t>
            </a:r>
            <a:endParaRPr/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rgbClr val="434343"/>
                </a:solidFill>
              </a:rPr>
              <a:t>App Responsiveness</a:t>
            </a:r>
            <a:endParaRPr sz="2000">
              <a:solidFill>
                <a:srgbClr val="434343"/>
              </a:solidFill>
            </a:endParaRPr>
          </a:p>
        </p:txBody>
      </p:sp>
      <p:pic>
        <p:nvPicPr>
          <p:cNvPr id="256" name="Google Shape;256;p35" title="Screenshot 2025-06-15 at 6.19.5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0850" y="2166950"/>
            <a:ext cx="4121573" cy="224107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5"/>
          <p:cNvSpPr txBox="1"/>
          <p:nvPr/>
        </p:nvSpPr>
        <p:spPr>
          <a:xfrm>
            <a:off x="8782750" y="337537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58" name="Google Shape;258;p35" title="Screenshot 2025-06-15 at 6.20.2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2350" y="2166951"/>
            <a:ext cx="2296635" cy="224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5" title="Screenshot 2025-06-15 at 6.20.09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551" y="2166950"/>
            <a:ext cx="1161916" cy="224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5"/>
          <p:cNvSpPr txBox="1"/>
          <p:nvPr/>
        </p:nvSpPr>
        <p:spPr>
          <a:xfrm>
            <a:off x="816375" y="170525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Mobile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1" name="Google Shape;261;p35"/>
          <p:cNvSpPr txBox="1"/>
          <p:nvPr/>
        </p:nvSpPr>
        <p:spPr>
          <a:xfrm>
            <a:off x="2770750" y="170525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Tablet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5964425" y="1660525"/>
            <a:ext cx="124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Desktop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title"/>
          </p:nvPr>
        </p:nvSpPr>
        <p:spPr>
          <a:xfrm>
            <a:off x="2923200" y="445025"/>
            <a:ext cx="590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Design &amp; Implementation</a:t>
            </a:r>
            <a:endParaRPr sz="402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</a:t>
            </a:r>
            <a:r>
              <a:rPr lang="en"/>
              <a:t>Architecture</a:t>
            </a:r>
            <a:endParaRPr/>
          </a:p>
        </p:txBody>
      </p:sp>
      <p:sp>
        <p:nvSpPr>
          <p:cNvPr id="273" name="Google Shape;273;p37"/>
          <p:cNvSpPr txBox="1"/>
          <p:nvPr>
            <p:ph idx="1" type="body"/>
          </p:nvPr>
        </p:nvSpPr>
        <p:spPr>
          <a:xfrm>
            <a:off x="437950" y="1493850"/>
            <a:ext cx="7969200" cy="21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Frontend:</a:t>
            </a:r>
            <a:r>
              <a:rPr lang="en" sz="2000">
                <a:solidFill>
                  <a:schemeClr val="dk1"/>
                </a:solidFill>
              </a:rPr>
              <a:t> React + Vite (Modern, fast development)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Backend:</a:t>
            </a:r>
            <a:r>
              <a:rPr lang="en" sz="2000">
                <a:solidFill>
                  <a:schemeClr val="dk1"/>
                </a:solidFill>
              </a:rPr>
              <a:t> Node.js + Express (RESTful API)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Database:</a:t>
            </a:r>
            <a:r>
              <a:rPr lang="en" sz="2000">
                <a:solidFill>
                  <a:schemeClr val="dk1"/>
                </a:solidFill>
              </a:rPr>
              <a:t> MongoDB (Flexible document storage)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AI Integration:</a:t>
            </a:r>
            <a:r>
              <a:rPr lang="en" sz="2000">
                <a:solidFill>
                  <a:schemeClr val="dk1"/>
                </a:solidFill>
              </a:rPr>
              <a:t> OpenAI GPT API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Deployment:</a:t>
            </a:r>
            <a:r>
              <a:rPr lang="en" sz="2000">
                <a:solidFill>
                  <a:schemeClr val="dk1"/>
                </a:solidFill>
              </a:rPr>
              <a:t> Netlify + Heroku with Docker</a:t>
            </a:r>
            <a:endParaRPr sz="2000">
              <a:solidFill>
                <a:srgbClr val="434343"/>
              </a:solidFill>
            </a:endParaRPr>
          </a:p>
        </p:txBody>
      </p:sp>
      <p:pic>
        <p:nvPicPr>
          <p:cNvPr id="274" name="Google Shape;27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1200" y="2449225"/>
            <a:ext cx="2097999" cy="209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00"/>
              <a:t>Key Implementation Challenges &amp; Solutions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280" name="Google Shape;280;p38"/>
          <p:cNvSpPr txBox="1"/>
          <p:nvPr>
            <p:ph idx="1" type="body"/>
          </p:nvPr>
        </p:nvSpPr>
        <p:spPr>
          <a:xfrm>
            <a:off x="587400" y="1376675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50">
                <a:solidFill>
                  <a:schemeClr val="dk1"/>
                </a:solidFill>
              </a:rPr>
              <a:t>Critical Technical Decisions:</a:t>
            </a:r>
            <a:endParaRPr b="1" sz="2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83">
                <a:solidFill>
                  <a:schemeClr val="dk1"/>
                </a:solidFill>
              </a:rPr>
              <a:t>Challenge 1: Child Safety &amp; Content Filtering</a:t>
            </a:r>
            <a:endParaRPr b="1" sz="1683">
              <a:solidFill>
                <a:schemeClr val="dk1"/>
              </a:solidFill>
            </a:endParaRPr>
          </a:p>
          <a:p>
            <a:pPr indent="-33552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84"/>
              <a:buChar char="●"/>
            </a:pPr>
            <a:r>
              <a:rPr lang="en" sz="1683">
                <a:solidFill>
                  <a:schemeClr val="dk1"/>
                </a:solidFill>
              </a:rPr>
              <a:t>Solution: Multi-layer content validation with parental controls</a:t>
            </a:r>
            <a:endParaRPr sz="168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83">
                <a:solidFill>
                  <a:schemeClr val="dk1"/>
                </a:solidFill>
              </a:rPr>
              <a:t>Challenge 2: Real-time Audio Generation</a:t>
            </a:r>
            <a:endParaRPr b="1" sz="1683">
              <a:solidFill>
                <a:schemeClr val="dk1"/>
              </a:solidFill>
            </a:endParaRPr>
          </a:p>
          <a:p>
            <a:pPr indent="-33552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84"/>
              <a:buChar char="●"/>
            </a:pPr>
            <a:r>
              <a:rPr lang="en" sz="1683">
                <a:solidFill>
                  <a:schemeClr val="dk1"/>
                </a:solidFill>
              </a:rPr>
              <a:t>Solution: Optimized API calls with caching and progressive loading</a:t>
            </a:r>
            <a:endParaRPr sz="168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83">
                <a:solidFill>
                  <a:schemeClr val="dk1"/>
                </a:solidFill>
              </a:rPr>
              <a:t>Challenge 3: Scalable Story Storage</a:t>
            </a:r>
            <a:endParaRPr b="1" sz="1683">
              <a:solidFill>
                <a:schemeClr val="dk1"/>
              </a:solidFill>
            </a:endParaRPr>
          </a:p>
          <a:p>
            <a:pPr indent="-33552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84"/>
              <a:buChar char="●"/>
            </a:pPr>
            <a:r>
              <a:rPr lang="en" sz="1683">
                <a:solidFill>
                  <a:schemeClr val="dk1"/>
                </a:solidFill>
              </a:rPr>
              <a:t>Solution: MongoDB with indexed user collections and favorites system</a:t>
            </a:r>
            <a:endParaRPr sz="1683">
              <a:solidFill>
                <a:schemeClr val="dk1"/>
              </a:solidFill>
            </a:endParaRPr>
          </a:p>
          <a:p>
            <a:pPr indent="0" lvl="0" marL="45720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281" name="Google Shape;28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9825" y="1104150"/>
            <a:ext cx="1554150" cy="155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9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Database Design Architecture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287" name="Google Shape;287;p39"/>
          <p:cNvSpPr txBox="1"/>
          <p:nvPr>
            <p:ph idx="1" type="body"/>
          </p:nvPr>
        </p:nvSpPr>
        <p:spPr>
          <a:xfrm>
            <a:off x="582075" y="1174750"/>
            <a:ext cx="79692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chemeClr val="dk1"/>
                </a:solidFill>
              </a:rPr>
              <a:t>MongoDB </a:t>
            </a:r>
            <a:r>
              <a:rPr b="1" lang="en" sz="8000">
                <a:solidFill>
                  <a:schemeClr val="dk1"/>
                </a:solidFill>
              </a:rPr>
              <a:t>Schema Design - 3 Core Collections:</a:t>
            </a:r>
            <a:endParaRPr b="1" sz="8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45720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88" name="Google Shape;288;p39"/>
          <p:cNvSpPr txBox="1"/>
          <p:nvPr/>
        </p:nvSpPr>
        <p:spPr>
          <a:xfrm>
            <a:off x="582200" y="1629350"/>
            <a:ext cx="42153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User Schema: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Authentication with bcrypt + JWT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Login attempt limiting (5 attempts → 5min lock)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Password validation &amp; security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89" name="Google Shape;289;p39"/>
          <p:cNvSpPr txBox="1"/>
          <p:nvPr/>
        </p:nvSpPr>
        <p:spPr>
          <a:xfrm>
            <a:off x="582200" y="2858450"/>
            <a:ext cx="4397700" cy="1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Story Schema</a:t>
            </a:r>
            <a:r>
              <a:rPr b="1" lang="en" sz="1300">
                <a:solidFill>
                  <a:schemeClr val="dk1"/>
                </a:solidFill>
              </a:rPr>
              <a:t>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</a:t>
            </a:r>
            <a:r>
              <a:rPr lang="en" sz="1300">
                <a:solidFill>
                  <a:schemeClr val="dk1"/>
                </a:solidFill>
              </a:rPr>
              <a:t>etadata: character, setting, theme, age group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Multi-media support: text, images, audio buffers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User interaction: favorites, categories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AI integration fields: revised prompts, voice models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90" name="Google Shape;290;p39"/>
          <p:cNvSpPr txBox="1"/>
          <p:nvPr/>
        </p:nvSpPr>
        <p:spPr>
          <a:xfrm>
            <a:off x="4664125" y="1897400"/>
            <a:ext cx="4108200" cy="20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ParentalControls Schema: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TTS configuration (10 voice options, 3 models)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Content filtering: 15 allowed themes, 15 blocked topics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Image generation controls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Word count limits (150-500 words)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pic>
        <p:nvPicPr>
          <p:cNvPr id="291" name="Google Shape;29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1125" y="711450"/>
            <a:ext cx="1307350" cy="130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/>
              <a:t>Code Architecture Highlights</a:t>
            </a:r>
            <a:endParaRPr sz="28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0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Project Structure &amp; Design Patterns: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129">
              <a:solidFill>
                <a:schemeClr val="dk1"/>
              </a:solidFill>
            </a:endParaRPr>
          </a:p>
          <a:p>
            <a:pPr indent="0" lvl="0" marL="45720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129">
              <a:solidFill>
                <a:schemeClr val="dk1"/>
              </a:solidFill>
            </a:endParaRPr>
          </a:p>
        </p:txBody>
      </p:sp>
      <p:pic>
        <p:nvPicPr>
          <p:cNvPr id="298" name="Google Shape;29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600" y="1709350"/>
            <a:ext cx="4210050" cy="263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0"/>
          <p:cNvSpPr txBox="1"/>
          <p:nvPr/>
        </p:nvSpPr>
        <p:spPr>
          <a:xfrm>
            <a:off x="5091200" y="1784875"/>
            <a:ext cx="333090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Key Patterns Used: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MVC Pattern for backend organization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Context API for state management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RESTful API design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1"/>
          <p:cNvSpPr txBox="1"/>
          <p:nvPr>
            <p:ph type="title"/>
          </p:nvPr>
        </p:nvSpPr>
        <p:spPr>
          <a:xfrm>
            <a:off x="2923200" y="445025"/>
            <a:ext cx="590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Security</a:t>
            </a:r>
            <a:endParaRPr sz="402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2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</a:t>
            </a:r>
            <a:endParaRPr/>
          </a:p>
        </p:txBody>
      </p:sp>
      <p:sp>
        <p:nvSpPr>
          <p:cNvPr id="310" name="Google Shape;310;p42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Core Features (Security-Reviewed)</a:t>
            </a:r>
            <a:endParaRPr b="1"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Secure Login / Registration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Story Generation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Read-Along Mode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Story Saving (User-specific access)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Parent Controls (Feature restrictions)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Additional Features</a:t>
            </a:r>
            <a:endParaRPr b="1"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Character &amp; Theme Customization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Audio Narration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Story Download / Sharing (future-secured)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3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Diagram</a:t>
            </a:r>
            <a:endParaRPr/>
          </a:p>
        </p:txBody>
      </p:sp>
      <p:sp>
        <p:nvSpPr>
          <p:cNvPr id="316" name="Google Shape;316;p43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Secure Role-Based Access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Parents: Full access (generate, save, manage stories)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Children: Limited access (read, listen)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Auth required for saving and editing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Parent controls restrict sensitive features</a:t>
            </a:r>
            <a:endParaRPr sz="1700"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4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Stories &amp; Tracking</a:t>
            </a:r>
            <a:endParaRPr/>
          </a:p>
        </p:txBody>
      </p:sp>
      <p:sp>
        <p:nvSpPr>
          <p:cNvPr id="322" name="Google Shape;322;p44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2938"/>
              <a:buFont typeface="Arial"/>
              <a:buNone/>
            </a:pPr>
            <a:r>
              <a:rPr b="1" lang="en" sz="1508">
                <a:solidFill>
                  <a:schemeClr val="dk1"/>
                </a:solidFill>
              </a:rPr>
              <a:t>User Story Summary</a:t>
            </a:r>
            <a:endParaRPr b="1" sz="1508">
              <a:solidFill>
                <a:schemeClr val="dk1"/>
              </a:solidFill>
            </a:endParaRPr>
          </a:p>
          <a:p>
            <a:pPr indent="-310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8">
                <a:solidFill>
                  <a:schemeClr val="dk1"/>
                </a:solidFill>
              </a:rPr>
              <a:t>20 stories total, 13 completed</a:t>
            </a:r>
            <a:br>
              <a:rPr lang="en" sz="1508">
                <a:solidFill>
                  <a:schemeClr val="dk1"/>
                </a:solidFill>
              </a:rPr>
            </a:br>
            <a:endParaRPr sz="1508">
              <a:solidFill>
                <a:schemeClr val="dk1"/>
              </a:solidFill>
            </a:endParaRPr>
          </a:p>
          <a:p>
            <a:pPr indent="-310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8">
                <a:solidFill>
                  <a:schemeClr val="dk1"/>
                </a:solidFill>
              </a:rPr>
              <a:t>63 story points, 45 completed</a:t>
            </a:r>
            <a:br>
              <a:rPr lang="en" sz="1508">
                <a:solidFill>
                  <a:schemeClr val="dk1"/>
                </a:solidFill>
              </a:rPr>
            </a:br>
            <a:endParaRPr sz="1508">
              <a:solidFill>
                <a:schemeClr val="dk1"/>
              </a:solidFill>
            </a:endParaRPr>
          </a:p>
          <a:p>
            <a:pPr indent="-310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8">
                <a:solidFill>
                  <a:schemeClr val="dk1"/>
                </a:solidFill>
              </a:rPr>
              <a:t>Managed via GitHub + Kanban</a:t>
            </a:r>
            <a:br>
              <a:rPr lang="en" sz="1508">
                <a:solidFill>
                  <a:schemeClr val="dk1"/>
                </a:solidFill>
              </a:rPr>
            </a:br>
            <a:endParaRPr sz="15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2938"/>
              <a:buFont typeface="Arial"/>
              <a:buNone/>
            </a:pPr>
            <a:r>
              <a:rPr b="1" lang="en" sz="1508">
                <a:solidFill>
                  <a:schemeClr val="dk1"/>
                </a:solidFill>
              </a:rPr>
              <a:t>Security Focus</a:t>
            </a:r>
            <a:endParaRPr b="1" sz="1508">
              <a:solidFill>
                <a:schemeClr val="dk1"/>
              </a:solidFill>
            </a:endParaRPr>
          </a:p>
          <a:p>
            <a:pPr indent="-310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8">
                <a:solidFill>
                  <a:schemeClr val="dk1"/>
                </a:solidFill>
              </a:rPr>
              <a:t>Stories tagged for sensitive logic</a:t>
            </a:r>
            <a:br>
              <a:rPr lang="en" sz="1508">
                <a:solidFill>
                  <a:schemeClr val="dk1"/>
                </a:solidFill>
              </a:rPr>
            </a:br>
            <a:endParaRPr sz="1508">
              <a:solidFill>
                <a:schemeClr val="dk1"/>
              </a:solidFill>
            </a:endParaRPr>
          </a:p>
          <a:p>
            <a:pPr indent="-310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8">
                <a:solidFill>
                  <a:schemeClr val="dk1"/>
                </a:solidFill>
              </a:rPr>
              <a:t>Pull requests reviewed for auth/data handling</a:t>
            </a:r>
            <a:br>
              <a:rPr lang="en" sz="1508">
                <a:solidFill>
                  <a:schemeClr val="dk1"/>
                </a:solidFill>
              </a:rPr>
            </a:br>
            <a:endParaRPr i="1" sz="1508"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5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Nonfunctional Requirements</a:t>
            </a:r>
            <a:endParaRPr/>
          </a:p>
        </p:txBody>
      </p:sp>
      <p:sp>
        <p:nvSpPr>
          <p:cNvPr id="328" name="Google Shape;328;p45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Security &amp; Quality Goals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JWT auth, password hashing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Private story storage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Input validation, safe API access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Other Priorities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Fast response time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Mobile-friendly UI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CI/CD with automated tests</a:t>
            </a:r>
            <a:endParaRPr sz="1200"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329" name="Google Shape;329;p45"/>
          <p:cNvSpPr txBox="1"/>
          <p:nvPr/>
        </p:nvSpPr>
        <p:spPr>
          <a:xfrm>
            <a:off x="0" y="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333"/>
                </a:solidFill>
                <a:highlight>
                  <a:srgbClr val="F5F5F5"/>
                </a:highlight>
              </a:rPr>
              <a:t>Q.VmNF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6"/>
          <p:cNvSpPr txBox="1"/>
          <p:nvPr>
            <p:ph type="title"/>
          </p:nvPr>
        </p:nvSpPr>
        <p:spPr>
          <a:xfrm>
            <a:off x="2923200" y="445025"/>
            <a:ext cx="590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Testing</a:t>
            </a:r>
            <a:r>
              <a:rPr lang="en" sz="402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endParaRPr sz="402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Testing</a:t>
            </a:r>
            <a:endParaRPr/>
          </a:p>
        </p:txBody>
      </p:sp>
      <p:sp>
        <p:nvSpPr>
          <p:cNvPr id="340" name="Google Shape;340;p47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Unit testing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Integration testing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Acceptance testing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Security testing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System testing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Manual testing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</p:txBody>
      </p:sp>
      <p:pic>
        <p:nvPicPr>
          <p:cNvPr id="341" name="Google Shape;34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550" y="861775"/>
            <a:ext cx="20002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0200" y="3338100"/>
            <a:ext cx="594360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0825" y="861775"/>
            <a:ext cx="2183823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Case Examples</a:t>
            </a:r>
            <a:endParaRPr/>
          </a:p>
        </p:txBody>
      </p:sp>
      <p:sp>
        <p:nvSpPr>
          <p:cNvPr id="349" name="Google Shape;349;p48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Unit testing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</p:txBody>
      </p:sp>
      <p:pic>
        <p:nvPicPr>
          <p:cNvPr id="350" name="Google Shape;35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088" y="1768925"/>
            <a:ext cx="7777177" cy="260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3625" y="571500"/>
            <a:ext cx="921650" cy="92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2200" y="571500"/>
            <a:ext cx="921650" cy="92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90775" y="571500"/>
            <a:ext cx="921648" cy="1019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Case Examples</a:t>
            </a:r>
            <a:endParaRPr/>
          </a:p>
        </p:txBody>
      </p:sp>
      <p:sp>
        <p:nvSpPr>
          <p:cNvPr id="359" name="Google Shape;359;p49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Integration testing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Acceptance testing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</p:txBody>
      </p:sp>
      <p:pic>
        <p:nvPicPr>
          <p:cNvPr id="360" name="Google Shape;36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4972" y="771075"/>
            <a:ext cx="2965251" cy="335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300" y="2009100"/>
            <a:ext cx="4637324" cy="24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0"/>
          <p:cNvSpPr txBox="1"/>
          <p:nvPr>
            <p:ph type="title"/>
          </p:nvPr>
        </p:nvSpPr>
        <p:spPr>
          <a:xfrm>
            <a:off x="582200" y="571500"/>
            <a:ext cx="39897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Case Examples</a:t>
            </a:r>
            <a:endParaRPr/>
          </a:p>
        </p:txBody>
      </p:sp>
      <p:sp>
        <p:nvSpPr>
          <p:cNvPr id="367" name="Google Shape;367;p50"/>
          <p:cNvSpPr txBox="1"/>
          <p:nvPr>
            <p:ph idx="1" type="body"/>
          </p:nvPr>
        </p:nvSpPr>
        <p:spPr>
          <a:xfrm>
            <a:off x="582075" y="1174750"/>
            <a:ext cx="2620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System testing</a:t>
            </a:r>
            <a:endParaRPr sz="1400"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</p:txBody>
      </p:sp>
      <p:pic>
        <p:nvPicPr>
          <p:cNvPr id="368" name="Google Shape;36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0800" y="943425"/>
            <a:ext cx="2791474" cy="3625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9625" y="1548050"/>
            <a:ext cx="4150374" cy="3085651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0"/>
          <p:cNvSpPr txBox="1"/>
          <p:nvPr/>
        </p:nvSpPr>
        <p:spPr>
          <a:xfrm>
            <a:off x="5560800" y="543225"/>
            <a:ext cx="374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Security testing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1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Coverage</a:t>
            </a:r>
            <a:endParaRPr/>
          </a:p>
        </p:txBody>
      </p:sp>
      <p:sp>
        <p:nvSpPr>
          <p:cNvPr id="376" name="Google Shape;376;p51"/>
          <p:cNvSpPr txBox="1"/>
          <p:nvPr>
            <p:ph idx="1" type="body"/>
          </p:nvPr>
        </p:nvSpPr>
        <p:spPr>
          <a:xfrm>
            <a:off x="582075" y="1174750"/>
            <a:ext cx="7969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Over 85% of the frontend was tested</a:t>
            </a:r>
            <a:endParaRPr>
              <a:solidFill>
                <a:schemeClr val="dk1"/>
              </a:solidFill>
            </a:endParaRPr>
          </a:p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</a:endParaRPr>
          </a:p>
        </p:txBody>
      </p:sp>
      <p:pic>
        <p:nvPicPr>
          <p:cNvPr id="377" name="Google Shape;37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775" y="1671875"/>
            <a:ext cx="6025575" cy="117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0809" y="571500"/>
            <a:ext cx="1520590" cy="399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1142" y="2994525"/>
            <a:ext cx="1486209" cy="156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1775" y="2994525"/>
            <a:ext cx="4298224" cy="156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2"/>
          <p:cNvSpPr txBox="1"/>
          <p:nvPr>
            <p:ph type="title"/>
          </p:nvPr>
        </p:nvSpPr>
        <p:spPr>
          <a:xfrm>
            <a:off x="2923200" y="445025"/>
            <a:ext cx="590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Configuration Management</a:t>
            </a:r>
            <a:endParaRPr sz="402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3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Configuration management </a:t>
            </a:r>
            <a:endParaRPr/>
          </a:p>
        </p:txBody>
      </p:sp>
      <p:sp>
        <p:nvSpPr>
          <p:cNvPr id="391" name="Google Shape;391;p53"/>
          <p:cNvSpPr txBox="1"/>
          <p:nvPr>
            <p:ph idx="1" type="body"/>
          </p:nvPr>
        </p:nvSpPr>
        <p:spPr>
          <a:xfrm>
            <a:off x="582075" y="1174750"/>
            <a:ext cx="7969200" cy="4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381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Overview of tools 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392" name="Google Shape;392;p53"/>
          <p:cNvSpPr txBox="1"/>
          <p:nvPr/>
        </p:nvSpPr>
        <p:spPr>
          <a:xfrm>
            <a:off x="454900" y="1649650"/>
            <a:ext cx="28221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Version Control</a:t>
            </a:r>
            <a:r>
              <a:rPr b="1" lang="en" sz="1800">
                <a:solidFill>
                  <a:srgbClr val="1C4587"/>
                </a:solidFill>
              </a:rPr>
              <a:t>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Github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Containerization: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Docker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Package Management: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NPM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CI Pipeline: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Github Actions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93" name="Google Shape;393;p53"/>
          <p:cNvSpPr txBox="1"/>
          <p:nvPr/>
        </p:nvSpPr>
        <p:spPr>
          <a:xfrm>
            <a:off x="3205650" y="1649650"/>
            <a:ext cx="2822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Deployment Platforms </a:t>
            </a:r>
            <a:r>
              <a:rPr b="1" lang="en" sz="1800">
                <a:solidFill>
                  <a:srgbClr val="1C4587"/>
                </a:solidFill>
              </a:rPr>
              <a:t>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Heroku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Netlify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94" name="Google Shape;39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7000" y="2942650"/>
            <a:ext cx="1830876" cy="102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8950" y="2164675"/>
            <a:ext cx="1075276" cy="1075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8950" y="3268325"/>
            <a:ext cx="1293000" cy="129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8475" y="746825"/>
            <a:ext cx="1536775" cy="1824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67676" y="2473125"/>
            <a:ext cx="1218375" cy="1220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4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</p:txBody>
      </p:sp>
      <p:sp>
        <p:nvSpPr>
          <p:cNvPr id="404" name="Google Shape;404;p54"/>
          <p:cNvSpPr txBox="1"/>
          <p:nvPr/>
        </p:nvSpPr>
        <p:spPr>
          <a:xfrm>
            <a:off x="504650" y="1257125"/>
            <a:ext cx="44418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Benefits</a:t>
            </a:r>
            <a:r>
              <a:rPr b="1" lang="en" sz="1800">
                <a:solidFill>
                  <a:srgbClr val="1C4587"/>
                </a:solidFill>
              </a:rPr>
              <a:t> of Docker</a:t>
            </a:r>
            <a:r>
              <a:rPr b="1" lang="en" sz="1800">
                <a:solidFill>
                  <a:srgbClr val="1C4587"/>
                </a:solidFill>
              </a:rPr>
              <a:t>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Consistent </a:t>
            </a:r>
            <a:r>
              <a:rPr lang="en" sz="1800">
                <a:solidFill>
                  <a:schemeClr val="dk2"/>
                </a:solidFill>
              </a:rPr>
              <a:t>environment - runs the same every time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Isolation - system doesn’t rely on outside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Portable - can run </a:t>
            </a:r>
            <a:r>
              <a:rPr lang="en" sz="1800">
                <a:solidFill>
                  <a:schemeClr val="dk2"/>
                </a:solidFill>
              </a:rPr>
              <a:t>locally or in CI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Security - Sandboxes application, limits area of attack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Version Control - environment configuration live as code artifacts (dockerfile and docker compose)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05" name="Google Shape;40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4500" y="3220575"/>
            <a:ext cx="1075276" cy="107527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4"/>
          <p:cNvSpPr txBox="1"/>
          <p:nvPr/>
        </p:nvSpPr>
        <p:spPr>
          <a:xfrm>
            <a:off x="4520875" y="1310000"/>
            <a:ext cx="3994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Our configuration</a:t>
            </a:r>
            <a:r>
              <a:rPr b="1" lang="en" sz="1800">
                <a:solidFill>
                  <a:srgbClr val="1C4587"/>
                </a:solidFill>
              </a:rPr>
              <a:t>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Two Dockerfiles one for front end and one for back end code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Docker-compose in root code folder to orchestrate full application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5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Github/Github Actions</a:t>
            </a:r>
            <a:endParaRPr/>
          </a:p>
        </p:txBody>
      </p:sp>
      <p:sp>
        <p:nvSpPr>
          <p:cNvPr id="412" name="Google Shape;412;p55"/>
          <p:cNvSpPr txBox="1"/>
          <p:nvPr/>
        </p:nvSpPr>
        <p:spPr>
          <a:xfrm>
            <a:off x="504650" y="1257125"/>
            <a:ext cx="4441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Benefits of Github: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Version control,Issue Tracking, and CI/CD pipeline all in one application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Code review using pull request feature integrated with pipeline results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Ecosystem integrations with CI tools for code analysis, test coverage, and security scans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13" name="Google Shape;413;p55"/>
          <p:cNvSpPr txBox="1"/>
          <p:nvPr/>
        </p:nvSpPr>
        <p:spPr>
          <a:xfrm>
            <a:off x="4775175" y="1329000"/>
            <a:ext cx="3994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1C4587"/>
                </a:solidFill>
              </a:rPr>
              <a:t>Our Configuration</a:t>
            </a:r>
            <a:r>
              <a:rPr b="1" lang="en" sz="1800">
                <a:solidFill>
                  <a:srgbClr val="1C4587"/>
                </a:solidFill>
              </a:rPr>
              <a:t>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 single ci.yml that runs analysis, builds and tests in docker container, reports code coverage, and conditionally deploys code if on the main branch</a:t>
            </a:r>
            <a:endParaRPr b="1" sz="18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14" name="Google Shape;414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4150" y="3373875"/>
            <a:ext cx="1830876" cy="10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6"/>
          <p:cNvSpPr txBox="1"/>
          <p:nvPr>
            <p:ph type="title"/>
          </p:nvPr>
        </p:nvSpPr>
        <p:spPr>
          <a:xfrm>
            <a:off x="582200" y="571500"/>
            <a:ext cx="79692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Github/Github Actions</a:t>
            </a:r>
            <a:endParaRPr/>
          </a:p>
        </p:txBody>
      </p:sp>
      <p:sp>
        <p:nvSpPr>
          <p:cNvPr id="420" name="Google Shape;420;p56"/>
          <p:cNvSpPr txBox="1"/>
          <p:nvPr/>
        </p:nvSpPr>
        <p:spPr>
          <a:xfrm>
            <a:off x="504650" y="1257125"/>
            <a:ext cx="1986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</a:rPr>
              <a:t>Integrated tools:</a:t>
            </a:r>
            <a:endParaRPr b="1" sz="1800">
              <a:solidFill>
                <a:srgbClr val="1C458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Npm audit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Trivy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CodeQL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Cobertura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21" name="Google Shape;42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7653" y="829250"/>
            <a:ext cx="2639900" cy="17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7650" y="2571750"/>
            <a:ext cx="2723525" cy="209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99825" y="1428562"/>
            <a:ext cx="3167826" cy="288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7"/>
          <p:cNvSpPr txBox="1"/>
          <p:nvPr>
            <p:ph type="title"/>
          </p:nvPr>
        </p:nvSpPr>
        <p:spPr>
          <a:xfrm>
            <a:off x="1677075" y="1275600"/>
            <a:ext cx="590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Thank you!</a:t>
            </a:r>
            <a:endParaRPr sz="402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